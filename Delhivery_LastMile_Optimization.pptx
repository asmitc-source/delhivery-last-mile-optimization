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7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7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2560320" cy="768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FFFFFF"/>
                </a:solidFill>
              </a:rPr>
              <a:t>ANALYTICS DIVISION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206240" y="137160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Last-Mile Delivery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206240" y="210312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312A"/>
                </a:solidFill>
              </a:rPr>
              <a:t>Optimization Project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4206240" y="2971800"/>
            <a:ext cx="73152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206240" y="310896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How Delhivery Can Reduce Cost per Shipment by 22%,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Cut Delays by 38%, and Improve On-Time Rate by 3.4 pp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through Smart Route Optimization &amp; Delivery Allocation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4526280"/>
            <a:ext cx="73152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2062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Prepared by: </a:t>
            </a:r>
            <a:r>
              <a:rPr lang="en-US" sz="1100" dirty="0" err="1" smtClean="0">
                <a:solidFill>
                  <a:srgbClr val="CCCCCC"/>
                </a:solidFill>
              </a:rPr>
              <a:t>Asmit</a:t>
            </a:r>
            <a:r>
              <a:rPr lang="en-US" sz="1100" dirty="0" smtClean="0">
                <a:solidFill>
                  <a:srgbClr val="CCCCCC"/>
                </a:solidFill>
              </a:rPr>
              <a:t> </a:t>
            </a:r>
            <a:r>
              <a:rPr lang="en-US" sz="1100" smtClean="0">
                <a:solidFill>
                  <a:srgbClr val="CCCCCC"/>
                </a:solidFill>
              </a:rPr>
              <a:t>Choudhary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Dataset: </a:t>
            </a:r>
            <a:r>
              <a:rPr lang="en-US" sz="1100" dirty="0">
                <a:solidFill>
                  <a:srgbClr val="CCCCCC"/>
                </a:solidFill>
              </a:rPr>
              <a:t>1,200 shipments | 8 zones | 26 variables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06240" y="5303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Period: </a:t>
            </a:r>
            <a:r>
              <a:rPr lang="en-US" sz="1100" dirty="0">
                <a:solidFill>
                  <a:srgbClr val="CCCCCC"/>
                </a:solidFill>
              </a:rPr>
              <a:t>FY 2024–25 Simulation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E8312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 &amp; Baseline Metrics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Where is Delhivery losing time and money?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1097280"/>
            <a:ext cx="5120640" cy="2194560"/>
          </a:xfrm>
          <a:prstGeom prst="rect">
            <a:avLst/>
          </a:prstGeom>
          <a:solidFill>
            <a:srgbClr val="F4F4F4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312A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146304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4A4A"/>
                </a:solidFill>
              </a:rPr>
              <a:t>Delhivery faces inefficiencies in last-mile delivery: suboptimal route planning causes excess fuel burn, stop sequencing is non-optimized, peak-hour scheduling drives delays, and re-attempt costs erode margins across all 8 operational zones.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11430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1143000"/>
            <a:ext cx="1828800" cy="54864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312A"/>
                </a:solidFill>
              </a:rPr>
              <a:t>85.2%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76072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0D0D"/>
                </a:solidFill>
              </a:rPr>
              <a:t>On-Time Rate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760720" y="19293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8C8C"/>
                </a:solidFill>
              </a:rPr>
              <a:t>Industry target: 92%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790688" y="11430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90688" y="1143000"/>
            <a:ext cx="1828800" cy="54864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9" name="Text 16"/>
          <p:cNvSpPr/>
          <p:nvPr/>
        </p:nvSpPr>
        <p:spPr>
          <a:xfrm>
            <a:off x="7790688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</a:rPr>
              <a:t>1.51h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790688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0D0D"/>
                </a:solidFill>
              </a:rPr>
              <a:t>Avg Delay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790688" y="19293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8C8C"/>
                </a:solidFill>
              </a:rPr>
              <a:t>Per shipment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20656" y="11430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820656" y="1143000"/>
            <a:ext cx="1828800" cy="54864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4" name="Text 21"/>
          <p:cNvSpPr/>
          <p:nvPr/>
        </p:nvSpPr>
        <p:spPr>
          <a:xfrm>
            <a:off x="9820656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</a:rPr>
              <a:t>₹451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820656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0D0D"/>
                </a:solidFill>
              </a:rPr>
              <a:t>Cost/Shipment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820656" y="19293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8C8C"/>
                </a:solidFill>
              </a:rPr>
              <a:t>Avg across all zones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760720" y="2404872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760720" y="2404872"/>
            <a:ext cx="1828800" cy="54864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9" name="Text 26"/>
          <p:cNvSpPr/>
          <p:nvPr/>
        </p:nvSpPr>
        <p:spPr>
          <a:xfrm>
            <a:off x="5760720" y="2496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</a:rPr>
              <a:t>₹48.0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760720" y="2953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0D0D"/>
                </a:solidFill>
              </a:rPr>
              <a:t>Cost/KM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760720" y="31912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8C8C"/>
                </a:solidFill>
              </a:rPr>
              <a:t>Van: ₹55 | 2W: ₹39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790688" y="2404872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790688" y="2404872"/>
            <a:ext cx="1828800" cy="54864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34" name="Text 31"/>
          <p:cNvSpPr/>
          <p:nvPr/>
        </p:nvSpPr>
        <p:spPr>
          <a:xfrm>
            <a:off x="7790688" y="2496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312A"/>
                </a:solidFill>
              </a:rPr>
              <a:t>88.8%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790688" y="2953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0D0D"/>
                </a:solidFill>
              </a:rPr>
              <a:t>1st Attempt %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790688" y="31912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8C8C"/>
                </a:solidFill>
              </a:rPr>
              <a:t>11.2% re-attempt cost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9820656" y="2404872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9820656" y="2404872"/>
            <a:ext cx="1828800" cy="54864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9" name="Text 36"/>
          <p:cNvSpPr/>
          <p:nvPr/>
        </p:nvSpPr>
        <p:spPr>
          <a:xfrm>
            <a:off x="9820656" y="2496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</a:rPr>
              <a:t>78/100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9820656" y="2953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0D0D"/>
                </a:solidFill>
              </a:rPr>
              <a:t>Route Efficiency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9820656" y="31912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8C8C"/>
                </a:solidFill>
              </a:rPr>
              <a:t>4 clusters identified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74320" y="3429000"/>
            <a:ext cx="11612880" cy="59436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34747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🔑  KEY INSIGHT: Delhi NCR &amp; Kolkata show 18-22% higher delay rates vs national avg. Peak hours (10-13h, 17-20h) account for 41% of total delay hours. Re-attempt deliveries cost ₹80-180 per event.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274320" y="4133088"/>
            <a:ext cx="3794760" cy="21945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5" name="Shape 42"/>
          <p:cNvSpPr/>
          <p:nvPr/>
        </p:nvSpPr>
        <p:spPr>
          <a:xfrm>
            <a:off x="274320" y="4133088"/>
            <a:ext cx="73152" cy="219456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46" name="Text 43"/>
          <p:cNvSpPr/>
          <p:nvPr/>
        </p:nvSpPr>
        <p:spPr>
          <a:xfrm>
            <a:off x="438912" y="41696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312A"/>
                </a:solidFill>
              </a:rPr>
              <a:t>Root Cause 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38912" y="44256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</a:rPr>
              <a:t>Route Sequencing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38912" y="47548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</a:rPr>
              <a:t>Stops are not batched by proximity. Drivers criss-cross zones, adding 3-8 km of dead-mileage per route.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251960" y="4133088"/>
            <a:ext cx="3794760" cy="21945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0" name="Shape 47"/>
          <p:cNvSpPr/>
          <p:nvPr/>
        </p:nvSpPr>
        <p:spPr>
          <a:xfrm>
            <a:off x="4251960" y="4133088"/>
            <a:ext cx="73152" cy="219456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51" name="Text 48"/>
          <p:cNvSpPr/>
          <p:nvPr/>
        </p:nvSpPr>
        <p:spPr>
          <a:xfrm>
            <a:off x="4416552" y="41696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312A"/>
                </a:solidFill>
              </a:rPr>
              <a:t>Root Cause 2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416552" y="44256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</a:rPr>
              <a:t>Peak Hour Dispatch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4416552" y="47548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</a:rPr>
              <a:t>41% of shipments dispatched during 10-13h &amp; 17-20h. Traffic multiplier raises delivery time by 0.6-1.2h.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229600" y="4133088"/>
            <a:ext cx="3794760" cy="21945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5" name="Shape 52"/>
          <p:cNvSpPr/>
          <p:nvPr/>
        </p:nvSpPr>
        <p:spPr>
          <a:xfrm>
            <a:off x="8229600" y="4133088"/>
            <a:ext cx="73152" cy="219456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56" name="Text 53"/>
          <p:cNvSpPr/>
          <p:nvPr/>
        </p:nvSpPr>
        <p:spPr>
          <a:xfrm>
            <a:off x="8394192" y="41696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312A"/>
                </a:solidFill>
              </a:rPr>
              <a:t>Root Cause 3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394192" y="44256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</a:rPr>
              <a:t>Customer Unavailability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394192" y="47548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</a:rPr>
              <a:t>11.2% first-attempt failure drives ₹135 avg re-attempt cost. No ML-based time-slot prediction in place.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Architecture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1,200 shipment records × 26 variables — synthetic but operationally grounded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1143000"/>
            <a:ext cx="1828800" cy="96012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1,200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7432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Total Shipments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240280" y="1143000"/>
            <a:ext cx="1828800" cy="96012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3" name="Text 10"/>
          <p:cNvSpPr/>
          <p:nvPr/>
        </p:nvSpPr>
        <p:spPr>
          <a:xfrm>
            <a:off x="224028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24028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Variables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06240" y="1143000"/>
            <a:ext cx="1828800" cy="9601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6" name="Text 13"/>
          <p:cNvSpPr/>
          <p:nvPr/>
        </p:nvSpPr>
        <p:spPr>
          <a:xfrm>
            <a:off x="420624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8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20624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Operational Zones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72200" y="1143000"/>
            <a:ext cx="1828800" cy="9601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80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17220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Unique Routes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138160" y="1143000"/>
            <a:ext cx="1828800" cy="9601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2" name="Text 19"/>
          <p:cNvSpPr/>
          <p:nvPr/>
        </p:nvSpPr>
        <p:spPr>
          <a:xfrm>
            <a:off x="813816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813816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Vehicle Types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0104120" y="1143000"/>
            <a:ext cx="1828800" cy="9601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5" name="Text 22"/>
          <p:cNvSpPr/>
          <p:nvPr/>
        </p:nvSpPr>
        <p:spPr>
          <a:xfrm>
            <a:off x="1010412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010412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CCCC"/>
                </a:solidFill>
              </a:rPr>
              <a:t>Package Types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20040" y="2286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312A"/>
                </a:solidFill>
              </a:rPr>
              <a:t>KEY COLUMNS &amp; ENGINEERING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11612880" cy="3794760"/>
        </p:xfrm>
        <a:graphic>
          <a:graphicData uri="http://schemas.openxmlformats.org/drawingml/2006/table">
            <a:tbl>
              <a:tblPr/>
              <a:tblGrid>
                <a:gridCol w="38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shipment_id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shipment identifier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zone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8 metro zones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distance_km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Last-mile delivery distance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delay_hrs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- promised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KPI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on_time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OTD 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KPI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total_cost_inr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+ labor + handling + reattempt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KPI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stops_per_route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assigned per driver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peak_hour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dispatched in congestion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is_festive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Oct/Nov/Jan season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route_efficiency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0-100 composite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cluster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segment (4 clusters)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cost_per_km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total_cost / distance_km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Zone-Level Performance Analysis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Delhi NCR and Kolkata are the highest-priority problem zones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1560"/>
            <a:ext cx="5943600" cy="288036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77640"/>
            <a:ext cx="11612880" cy="24688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92240" y="1078992"/>
            <a:ext cx="5486400" cy="62179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Shape 7"/>
          <p:cNvSpPr/>
          <p:nvPr/>
        </p:nvSpPr>
        <p:spPr>
          <a:xfrm>
            <a:off x="6492240" y="1078992"/>
            <a:ext cx="64008" cy="621792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3" name="Text 8"/>
          <p:cNvSpPr/>
          <p:nvPr/>
        </p:nvSpPr>
        <p:spPr>
          <a:xfrm>
            <a:off x="6629400" y="111556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</a:rPr>
              <a:t>Delhi NCR: 79.3% OTD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629400" y="13807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Worst OTD. High traffic density + festive spikes. Priority zone.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492240" y="1773936"/>
            <a:ext cx="5486400" cy="62179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Shape 11"/>
          <p:cNvSpPr/>
          <p:nvPr/>
        </p:nvSpPr>
        <p:spPr>
          <a:xfrm>
            <a:off x="6492240" y="1773936"/>
            <a:ext cx="64008" cy="621792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7" name="Text 12"/>
          <p:cNvSpPr/>
          <p:nvPr/>
        </p:nvSpPr>
        <p:spPr>
          <a:xfrm>
            <a:off x="6629400" y="181051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</a:rPr>
              <a:t>Kolkata: 82.1% OTD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629400" y="20756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2nd worst. High stop counts, poor route batching.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492240" y="2468880"/>
            <a:ext cx="5486400" cy="62179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2468880"/>
            <a:ext cx="64008" cy="621792"/>
          </a:xfrm>
          <a:prstGeom prst="rect">
            <a:avLst/>
          </a:prstGeom>
          <a:solidFill>
            <a:srgbClr val="2C6E4A"/>
          </a:solidFill>
          <a:ln/>
        </p:spPr>
      </p:sp>
      <p:sp>
        <p:nvSpPr>
          <p:cNvPr id="21" name="Text 16"/>
          <p:cNvSpPr/>
          <p:nvPr/>
        </p:nvSpPr>
        <p:spPr>
          <a:xfrm>
            <a:off x="6629400" y="250545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</a:rPr>
              <a:t>Pune: 91.4% OTD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629400" y="277063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Best performer. Model zone for replication.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492240" y="3163824"/>
            <a:ext cx="5486400" cy="62179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4" name="Shape 19"/>
          <p:cNvSpPr/>
          <p:nvPr/>
        </p:nvSpPr>
        <p:spPr>
          <a:xfrm>
            <a:off x="6492240" y="3163824"/>
            <a:ext cx="64008" cy="62179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Text 20"/>
          <p:cNvSpPr/>
          <p:nvPr/>
        </p:nvSpPr>
        <p:spPr>
          <a:xfrm>
            <a:off x="6629400" y="32004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</a:rPr>
              <a:t>Bangalore: 87.2% OTD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629400" y="346557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Tech-zone predictability helps. Still 5% below target.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Peak Hour &amp; Festive Season — Delay Deep Dive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41% of delays are structurally avoidable through scheduling changes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1560"/>
            <a:ext cx="6400800" cy="292608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51560"/>
            <a:ext cx="5029200" cy="29260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74320" y="4096512"/>
            <a:ext cx="2743200" cy="14173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2" name="Text 7"/>
          <p:cNvSpPr/>
          <p:nvPr/>
        </p:nvSpPr>
        <p:spPr>
          <a:xfrm>
            <a:off x="274320" y="4160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41%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274320" y="47365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of delay hours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in peak windows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246120" y="4096512"/>
            <a:ext cx="2743200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0"/>
          <p:cNvSpPr/>
          <p:nvPr/>
        </p:nvSpPr>
        <p:spPr>
          <a:xfrm>
            <a:off x="3246120" y="4160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312A"/>
                </a:solidFill>
              </a:rPr>
              <a:t>+0.82h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3246120" y="47365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extra delay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during festive season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217920" y="4096512"/>
            <a:ext cx="2743200" cy="141732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8" name="Text 13"/>
          <p:cNvSpPr/>
          <p:nvPr/>
        </p:nvSpPr>
        <p:spPr>
          <a:xfrm>
            <a:off x="6217920" y="4160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₹68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217920" y="47365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avg incremental cost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per peak shipment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9189720" y="4096512"/>
            <a:ext cx="2743200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Text 16"/>
          <p:cNvSpPr/>
          <p:nvPr/>
        </p:nvSpPr>
        <p:spPr>
          <a:xfrm>
            <a:off x="9189720" y="4160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312A"/>
                </a:solidFill>
              </a:rPr>
              <a:t>17-20h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9189720" y="47365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worst congestion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window daily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274320" y="5596128"/>
            <a:ext cx="11612880" cy="475488"/>
          </a:xfrm>
          <a:prstGeom prst="rect">
            <a:avLst/>
          </a:prstGeom>
          <a:solidFill>
            <a:srgbClr val="FFF3F3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4A"/>
                </a:solidFill>
              </a:rPr>
              <a:t>💡  Recommendation: Re-schedule 30% of peak-hour dispatches to 7-9h and 14-16h windows. Predicted delay reduction: 0.45-0.65h per affected shipment.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Route Segmentation — K-Means Clustering (k=4)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4 distinct operational personas identified — each needing a different intervention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1560"/>
            <a:ext cx="5486400" cy="4114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43600" y="1078992"/>
            <a:ext cx="5943600" cy="89611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0" y="1078992"/>
            <a:ext cx="73152" cy="896112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2" name="Text 8"/>
          <p:cNvSpPr/>
          <p:nvPr/>
        </p:nvSpPr>
        <p:spPr>
          <a:xfrm>
            <a:off x="6108192" y="113385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0D0D"/>
                </a:solidFill>
              </a:rPr>
              <a:t>🔴 High-Delay Crisis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108192" y="138988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</a:rPr>
              <a:t>Avg Delay: 2.8h  |  Avg Cost: ₹612  |  Efficiency: 52/100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108192" y="16002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</a:rPr>
              <a:t>→ Immediate re-routing + stop reduction. Split into 2 sub-routes.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943600" y="2084832"/>
            <a:ext cx="5943600" cy="89611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Shape 12"/>
          <p:cNvSpPr/>
          <p:nvPr/>
        </p:nvSpPr>
        <p:spPr>
          <a:xfrm>
            <a:off x="5943600" y="2084832"/>
            <a:ext cx="73152" cy="89611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7" name="Text 13"/>
          <p:cNvSpPr/>
          <p:nvPr/>
        </p:nvSpPr>
        <p:spPr>
          <a:xfrm>
            <a:off x="6108192" y="213969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0D0D"/>
                </a:solidFill>
              </a:rPr>
              <a:t>⚫ Cost-Heavy Routes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108192" y="239572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</a:rPr>
              <a:t>Avg Delay: 1.9h  |  Avg Cost: ₹642  |  Efficiency: 78/100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108192" y="2606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</a:rPr>
              <a:t>→ Switch from Van to 3-Wheeler. Reduces cost by ₹120/shipment.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943600" y="3090672"/>
            <a:ext cx="5943600" cy="89611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7"/>
          <p:cNvSpPr/>
          <p:nvPr/>
        </p:nvSpPr>
        <p:spPr>
          <a:xfrm>
            <a:off x="5943600" y="3090672"/>
            <a:ext cx="73152" cy="896112"/>
          </a:xfrm>
          <a:prstGeom prst="rect">
            <a:avLst/>
          </a:prstGeom>
          <a:solidFill>
            <a:srgbClr val="2C6E4A"/>
          </a:solidFill>
          <a:ln/>
        </p:spPr>
      </p:sp>
      <p:sp>
        <p:nvSpPr>
          <p:cNvPr id="22" name="Text 18"/>
          <p:cNvSpPr/>
          <p:nvPr/>
        </p:nvSpPr>
        <p:spPr>
          <a:xfrm>
            <a:off x="6108192" y="314553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0D0D"/>
                </a:solidFill>
              </a:rPr>
              <a:t>🟢 Optimal Routes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108192" y="340156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</a:rPr>
              <a:t>Avg Delay: 1.2h  |  Avg Cost: ₹328  |  Efficiency: 86/100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108192" y="36118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</a:rPr>
              <a:t>→ Replicate batching logic across other clusters.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943600" y="4096512"/>
            <a:ext cx="5943600" cy="89611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6" name="Shape 22"/>
          <p:cNvSpPr/>
          <p:nvPr/>
        </p:nvSpPr>
        <p:spPr>
          <a:xfrm>
            <a:off x="5943600" y="4096512"/>
            <a:ext cx="73152" cy="896112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27" name="Text 23"/>
          <p:cNvSpPr/>
          <p:nvPr/>
        </p:nvSpPr>
        <p:spPr>
          <a:xfrm>
            <a:off x="6108192" y="415137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0D0D"/>
                </a:solidFill>
              </a:rPr>
              <a:t>🔘 Overloaded Routes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108192" y="440740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</a:rPr>
              <a:t>Avg Delay: 1.9h  |  Avg Cost: ₹605  |  Efficiency: 56/100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108192" y="4617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</a:rPr>
              <a:t>→ Cap stops at 18/route. Add 1 driver per 5 overloaded routes.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Cost Structure Analysis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Fuel (44%) and labor (38%) dominate — both are addressable through routing optimization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1560"/>
            <a:ext cx="7315200" cy="329184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407408"/>
            <a:ext cx="11612880" cy="21031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818120" y="1097280"/>
            <a:ext cx="2057400" cy="150876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2" name="Text 7"/>
          <p:cNvSpPr/>
          <p:nvPr/>
        </p:nvSpPr>
        <p:spPr>
          <a:xfrm>
            <a:off x="7909560" y="12070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Fuel Savings Potential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909560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</a:rPr>
              <a:t>Reducing avg distance by 18% through batching saves ₹78/shipment in fuel alone.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9921240" y="1097280"/>
            <a:ext cx="2057400" cy="15087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5" name="Text 10"/>
          <p:cNvSpPr/>
          <p:nvPr/>
        </p:nvSpPr>
        <p:spPr>
          <a:xfrm>
            <a:off x="10012680" y="12070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Labor Optimization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0012680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</a:rPr>
              <a:t>Capping stops at 18/route cuts 2.3 labor-hrs/driver/day = ₹42 saving.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7818120" y="2788920"/>
            <a:ext cx="2057400" cy="15087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8" name="Text 13"/>
          <p:cNvSpPr/>
          <p:nvPr/>
        </p:nvSpPr>
        <p:spPr>
          <a:xfrm>
            <a:off x="7909560" y="2898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Re-attempt Elimination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909560" y="3337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</a:rPr>
              <a:t>Improving 1st-attempt to 95% eliminates ₹135 avg re-attempt cost for 6.2% of shipments.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9921240" y="2788920"/>
            <a:ext cx="2057400" cy="150876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21" name="Text 16"/>
          <p:cNvSpPr/>
          <p:nvPr/>
        </p:nvSpPr>
        <p:spPr>
          <a:xfrm>
            <a:off x="10012680" y="2898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Van-to-3W Shift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0012680" y="3337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</a:rPr>
              <a:t>Replacing Van on &lt;12km urban routes saves ₹38-52/shipment with no delivery SLA impact.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Product &amp; Ops Solutions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Each solution is independently deployable and quantifiably impactful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1078992"/>
            <a:ext cx="3794760" cy="2148840"/>
          </a:xfrm>
          <a:prstGeom prst="rect">
            <a:avLst/>
          </a:prstGeom>
          <a:solidFill>
            <a:srgbClr val="F4F4F4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078992"/>
            <a:ext cx="3794760" cy="54864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11887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</a:rPr>
              <a:t>#01  Smart Route Batching Engine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" y="1536192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ML-based clustering of stops by geo-proximity (500m radius). Reduces dead-mileage by 18-22%. Rebalances stops: cap 18 per route, min 12.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4048" y="2587752"/>
            <a:ext cx="3593592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" y="26517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312A"/>
                </a:solidFill>
              </a:rPr>
              <a:t>📈 ↓ Cost/Shipment: ₹68 | ↓ Distance: 3.2km avg | ↑ Efficiency: +12pts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4048" y="298094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8C8C"/>
                </a:solidFill>
              </a:rPr>
              <a:t>Effort: Medium | Timeline: Q2 2025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251960" y="1078992"/>
            <a:ext cx="3794760" cy="2148840"/>
          </a:xfrm>
          <a:prstGeom prst="rect">
            <a:avLst/>
          </a:prstGeom>
          <a:solidFill>
            <a:srgbClr val="F4F4F4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51960" y="1078992"/>
            <a:ext cx="3794760" cy="54864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8" name="Text 15"/>
          <p:cNvSpPr/>
          <p:nvPr/>
        </p:nvSpPr>
        <p:spPr>
          <a:xfrm>
            <a:off x="4361688" y="11887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</a:rPr>
              <a:t>#02  Peak-Hour Dispatch Scheduler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61688" y="1536192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NLP + historical data to re-sequence 30% of peak dispatches to off-peak slots (7-9h, 14-16h). Automated SMS/app nudge to customers.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361688" y="2587752"/>
            <a:ext cx="3593592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8"/>
          <p:cNvSpPr/>
          <p:nvPr/>
        </p:nvSpPr>
        <p:spPr>
          <a:xfrm>
            <a:off x="4361688" y="26517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312A"/>
                </a:solidFill>
              </a:rPr>
              <a:t>📈 ↓ Avg Delay: 0.45h | ↑ OTD: +2.8pp | ↓ Fuel: 8%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361688" y="298094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8C8C"/>
                </a:solidFill>
              </a:rPr>
              <a:t>Effort: Low | Timeline: Q1 2025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229600" y="1078992"/>
            <a:ext cx="3794760" cy="2148840"/>
          </a:xfrm>
          <a:prstGeom prst="rect">
            <a:avLst/>
          </a:prstGeom>
          <a:solidFill>
            <a:srgbClr val="F4F4F4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229600" y="1078992"/>
            <a:ext cx="3794760" cy="54864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25" name="Text 22"/>
          <p:cNvSpPr/>
          <p:nvPr/>
        </p:nvSpPr>
        <p:spPr>
          <a:xfrm>
            <a:off x="8339328" y="11887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</a:rPr>
              <a:t>#03  Predictive Delivery Slot (ML)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339328" y="1536192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XGBoost model predicting customer availability from historical delivery success. SMS time-slot confirmation 2h before dispatch.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339328" y="2587752"/>
            <a:ext cx="3593592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Text 25"/>
          <p:cNvSpPr/>
          <p:nvPr/>
        </p:nvSpPr>
        <p:spPr>
          <a:xfrm>
            <a:off x="8339328" y="26517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312A"/>
                </a:solidFill>
              </a:rPr>
              <a:t>📈 ↑ First-Attempt: 88.8% → 95%+ | ↓ Re-attempt cost: ₹135/event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339328" y="298094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8C8C"/>
                </a:solidFill>
              </a:rPr>
              <a:t>Effort: High | Timeline: Q3 2025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74320" y="3520440"/>
            <a:ext cx="5760720" cy="2148840"/>
          </a:xfrm>
          <a:prstGeom prst="rect">
            <a:avLst/>
          </a:prstGeom>
          <a:solidFill>
            <a:srgbClr val="F4F4F4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3520440"/>
            <a:ext cx="5760720" cy="54864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2" name="Text 29"/>
          <p:cNvSpPr/>
          <p:nvPr/>
        </p:nvSpPr>
        <p:spPr>
          <a:xfrm>
            <a:off x="411480" y="3630168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</a:rPr>
              <a:t>#04  Dynamic Vehicle Allocation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11480" y="3977640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Rule engine: distance &lt; 12km AND weight &lt; 8kg → force 2-Wheeler/3-Wheeler. Real-time vehicle pool rebalancing across hubs.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11480" y="5029200"/>
            <a:ext cx="553212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Text 32"/>
          <p:cNvSpPr/>
          <p:nvPr/>
        </p:nvSpPr>
        <p:spPr>
          <a:xfrm>
            <a:off x="411480" y="5093208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12A"/>
                </a:solidFill>
              </a:rPr>
              <a:t>📈 ↓ Cost/KM: ₹48 → ₹38 | ↓ Fuel: ₹52/shipment on urban runs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11480" y="5440680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8C8C"/>
                </a:solidFill>
              </a:rPr>
              <a:t>Effort: Low | Timeline: Q1 2025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355080" y="3520440"/>
            <a:ext cx="5760720" cy="2148840"/>
          </a:xfrm>
          <a:prstGeom prst="rect">
            <a:avLst/>
          </a:prstGeom>
          <a:solidFill>
            <a:srgbClr val="F4F4F4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55080" y="3520440"/>
            <a:ext cx="5760720" cy="54864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9" name="Text 36"/>
          <p:cNvSpPr/>
          <p:nvPr/>
        </p:nvSpPr>
        <p:spPr>
          <a:xfrm>
            <a:off x="6492240" y="3630168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</a:rPr>
              <a:t>#05  Zone-Level SLA Tiering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92240" y="3977640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Differentiated SLAs by zone: Delhi NCR/Kolkata get +1h buffer and proactive delay communication. Festive surge pre-capacity booking.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492240" y="5029200"/>
            <a:ext cx="553212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39"/>
          <p:cNvSpPr/>
          <p:nvPr/>
        </p:nvSpPr>
        <p:spPr>
          <a:xfrm>
            <a:off x="6492240" y="5093208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12A"/>
                </a:solidFill>
              </a:rPr>
              <a:t>📈 ↑ CSAT: ~18% | ↓ Escalations: 25% | ↑ OTD perception: +8pp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492240" y="5440680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8C8C"/>
                </a:solidFill>
              </a:rPr>
              <a:t>Effort: Low | Timeline: Q1 2025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Quantified Impact Simulation — Before vs After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Based on 1,200 shipment dataset with Monte Carlo re-sampling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1560"/>
            <a:ext cx="6858000" cy="32004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078992"/>
          <a:ext cx="4572000" cy="4114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+3.4pp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~420K more OTD shipments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570K hours saved/yr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Cost/Shipment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~₹99Cr saved on 100M pkgs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₹37.4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fuel + ops saving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First-Attempt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Eliminates ₹67Cr re-attempt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Efficiency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78/100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90.5/100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+12.5pts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driver-hours per delivery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274320" y="4407408"/>
            <a:ext cx="6858000" cy="169164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2" name="Text 7"/>
          <p:cNvSpPr/>
          <p:nvPr/>
        </p:nvSpPr>
        <p:spPr>
          <a:xfrm>
            <a:off x="457200" y="4498848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₹99 Crore</a:t>
            </a:r>
            <a:endParaRPr lang="en-US" sz="3800" dirty="0"/>
          </a:p>
        </p:txBody>
      </p:sp>
      <p:sp>
        <p:nvSpPr>
          <p:cNvPr id="13" name="Text 8"/>
          <p:cNvSpPr/>
          <p:nvPr/>
        </p:nvSpPr>
        <p:spPr>
          <a:xfrm>
            <a:off x="457200" y="5166360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Estimated Annual Cost Savings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(at 100M shipments/yr × ₹99 reduction/shipment)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Roadmap — 3-Quarter Execution Plan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Sequenced by effort, dependency, and business impact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1078992"/>
            <a:ext cx="3749040" cy="47548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097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— Quick Wins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3167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AAAA"/>
                </a:solidFill>
              </a:rPr>
              <a:t>Q1 2025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16642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Shape 10"/>
          <p:cNvSpPr/>
          <p:nvPr/>
        </p:nvSpPr>
        <p:spPr>
          <a:xfrm>
            <a:off x="274320" y="1664208"/>
            <a:ext cx="64008" cy="804672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" y="17282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Peak-Hour Dispatch Re-scheduling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9768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Dispatch ops change + app nudge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5786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" y="2578608"/>
            <a:ext cx="64008" cy="804672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8" name="Text 15"/>
          <p:cNvSpPr/>
          <p:nvPr/>
        </p:nvSpPr>
        <p:spPr>
          <a:xfrm>
            <a:off x="429768" y="2642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Dynamic Vehicle Allocation rules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29768" y="29443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Fleet management system update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34930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8"/>
          <p:cNvSpPr/>
          <p:nvPr/>
        </p:nvSpPr>
        <p:spPr>
          <a:xfrm>
            <a:off x="274320" y="3493008"/>
            <a:ext cx="64008" cy="804672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22" name="Text 19"/>
          <p:cNvSpPr/>
          <p:nvPr/>
        </p:nvSpPr>
        <p:spPr>
          <a:xfrm>
            <a:off x="429768" y="3557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Zone-Level SLA Tiering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29768" y="3858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Customer comms + ops SLA revision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4320" y="44074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5" name="Shape 22"/>
          <p:cNvSpPr/>
          <p:nvPr/>
        </p:nvSpPr>
        <p:spPr>
          <a:xfrm>
            <a:off x="274320" y="4407408"/>
            <a:ext cx="64008" cy="804672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26" name="Text 23"/>
          <p:cNvSpPr/>
          <p:nvPr/>
        </p:nvSpPr>
        <p:spPr>
          <a:xfrm>
            <a:off x="429768" y="4471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Dashboard &amp; Monitoring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9768" y="4773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Streamlit dashboard for ops leads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251960" y="1078992"/>
            <a:ext cx="3749040" cy="47548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9" name="Text 26"/>
          <p:cNvSpPr/>
          <p:nvPr/>
        </p:nvSpPr>
        <p:spPr>
          <a:xfrm>
            <a:off x="4343400" y="1097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Core Model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343400" y="13167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Q2 2025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251960" y="16642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2" name="Shape 29"/>
          <p:cNvSpPr/>
          <p:nvPr/>
        </p:nvSpPr>
        <p:spPr>
          <a:xfrm>
            <a:off x="4251960" y="1664208"/>
            <a:ext cx="64008" cy="8046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3" name="Text 30"/>
          <p:cNvSpPr/>
          <p:nvPr/>
        </p:nvSpPr>
        <p:spPr>
          <a:xfrm>
            <a:off x="4407408" y="17282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Smart Route Batching Engine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407408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ML model build + pilot in Delhi NCR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251960" y="25786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6" name="Shape 33"/>
          <p:cNvSpPr/>
          <p:nvPr/>
        </p:nvSpPr>
        <p:spPr>
          <a:xfrm>
            <a:off x="4251960" y="2578608"/>
            <a:ext cx="64008" cy="8046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7" name="Text 34"/>
          <p:cNvSpPr/>
          <p:nvPr/>
        </p:nvSpPr>
        <p:spPr>
          <a:xfrm>
            <a:off x="4407408" y="2642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A/B test vs current routing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407408" y="29443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500 routes, 4-week test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251960" y="34930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0" name="Shape 37"/>
          <p:cNvSpPr/>
          <p:nvPr/>
        </p:nvSpPr>
        <p:spPr>
          <a:xfrm>
            <a:off x="4251960" y="3493008"/>
            <a:ext cx="64008" cy="8046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1" name="Text 38"/>
          <p:cNvSpPr/>
          <p:nvPr/>
        </p:nvSpPr>
        <p:spPr>
          <a:xfrm>
            <a:off x="4407408" y="3557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Rollout to Mumbai + Bangalore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407408" y="3858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Scaled deployment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251960" y="44074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4" name="Shape 41"/>
          <p:cNvSpPr/>
          <p:nvPr/>
        </p:nvSpPr>
        <p:spPr>
          <a:xfrm>
            <a:off x="4251960" y="4407408"/>
            <a:ext cx="64008" cy="8046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5" name="Text 42"/>
          <p:cNvSpPr/>
          <p:nvPr/>
        </p:nvSpPr>
        <p:spPr>
          <a:xfrm>
            <a:off x="4407408" y="4471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Driver app integration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407408" y="4773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Stop sequence push to driver app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8229600" y="1078992"/>
            <a:ext cx="3749040" cy="47548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8" name="Text 45"/>
          <p:cNvSpPr/>
          <p:nvPr/>
        </p:nvSpPr>
        <p:spPr>
          <a:xfrm>
            <a:off x="8321040" y="1097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— Intelligence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321040" y="13167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Q3 2025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229600" y="16642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1" name="Shape 48"/>
          <p:cNvSpPr/>
          <p:nvPr/>
        </p:nvSpPr>
        <p:spPr>
          <a:xfrm>
            <a:off x="8229600" y="1664208"/>
            <a:ext cx="64008" cy="80467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52" name="Text 49"/>
          <p:cNvSpPr/>
          <p:nvPr/>
        </p:nvSpPr>
        <p:spPr>
          <a:xfrm>
            <a:off x="8385048" y="17282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Predictive Delivery Slot ML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8385048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XGBoost model training on 12M records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229600" y="25786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5" name="Shape 52"/>
          <p:cNvSpPr/>
          <p:nvPr/>
        </p:nvSpPr>
        <p:spPr>
          <a:xfrm>
            <a:off x="8229600" y="2578608"/>
            <a:ext cx="64008" cy="80467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56" name="Text 53"/>
          <p:cNvSpPr/>
          <p:nvPr/>
        </p:nvSpPr>
        <p:spPr>
          <a:xfrm>
            <a:off x="8385048" y="2642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Customer time-slot API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8385048" y="29443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SMS/WhatsApp confirmation system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8229600" y="34930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9" name="Shape 56"/>
          <p:cNvSpPr/>
          <p:nvPr/>
        </p:nvSpPr>
        <p:spPr>
          <a:xfrm>
            <a:off x="8229600" y="3493008"/>
            <a:ext cx="64008" cy="80467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0" name="Text 57"/>
          <p:cNvSpPr/>
          <p:nvPr/>
        </p:nvSpPr>
        <p:spPr>
          <a:xfrm>
            <a:off x="8385048" y="3557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Full national rollout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8385048" y="3858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All 8 zones, all vehicle types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8229600" y="4407408"/>
            <a:ext cx="374904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3" name="Shape 60"/>
          <p:cNvSpPr/>
          <p:nvPr/>
        </p:nvSpPr>
        <p:spPr>
          <a:xfrm>
            <a:off x="8229600" y="4407408"/>
            <a:ext cx="64008" cy="80467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4" name="Text 61"/>
          <p:cNvSpPr/>
          <p:nvPr/>
        </p:nvSpPr>
        <p:spPr>
          <a:xfrm>
            <a:off x="8385048" y="4471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</a:rPr>
              <a:t>Real-time cost tracking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8385048" y="4773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4A4A"/>
                </a:solidFill>
              </a:rPr>
              <a:t>Live cost-per-shipment dashboard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4320" y="5468112"/>
            <a:ext cx="11612880" cy="6400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7" name="Shape 64"/>
          <p:cNvSpPr/>
          <p:nvPr/>
        </p:nvSpPr>
        <p:spPr>
          <a:xfrm>
            <a:off x="457200" y="5468112"/>
            <a:ext cx="36576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68" name="Text 65"/>
          <p:cNvSpPr/>
          <p:nvPr/>
        </p:nvSpPr>
        <p:spPr>
          <a:xfrm>
            <a:off x="182880" y="6080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Jan 25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1783080" y="5468112"/>
            <a:ext cx="36576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70" name="Text 67"/>
          <p:cNvSpPr/>
          <p:nvPr/>
        </p:nvSpPr>
        <p:spPr>
          <a:xfrm>
            <a:off x="1508760" y="6080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Feb 25</a:t>
            </a:r>
            <a:endParaRPr lang="en-US" sz="750" dirty="0"/>
          </a:p>
        </p:txBody>
      </p:sp>
      <p:sp>
        <p:nvSpPr>
          <p:cNvPr id="71" name="Shape 68"/>
          <p:cNvSpPr/>
          <p:nvPr/>
        </p:nvSpPr>
        <p:spPr>
          <a:xfrm>
            <a:off x="3108960" y="5468112"/>
            <a:ext cx="36576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72" name="Text 69"/>
          <p:cNvSpPr/>
          <p:nvPr/>
        </p:nvSpPr>
        <p:spPr>
          <a:xfrm>
            <a:off x="2834640" y="6080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Mar 25</a:t>
            </a:r>
            <a:endParaRPr lang="en-US" sz="750" dirty="0"/>
          </a:p>
        </p:txBody>
      </p:sp>
      <p:sp>
        <p:nvSpPr>
          <p:cNvPr id="73" name="Shape 70"/>
          <p:cNvSpPr/>
          <p:nvPr/>
        </p:nvSpPr>
        <p:spPr>
          <a:xfrm>
            <a:off x="4434840" y="5468112"/>
            <a:ext cx="36576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74" name="Text 71"/>
          <p:cNvSpPr/>
          <p:nvPr/>
        </p:nvSpPr>
        <p:spPr>
          <a:xfrm>
            <a:off x="4160520" y="6080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Apr 25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5760720" y="5468112"/>
            <a:ext cx="36576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76" name="Text 73"/>
          <p:cNvSpPr/>
          <p:nvPr/>
        </p:nvSpPr>
        <p:spPr>
          <a:xfrm>
            <a:off x="5486400" y="6080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May 25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7086600" y="5468112"/>
            <a:ext cx="36576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78" name="Text 75"/>
          <p:cNvSpPr/>
          <p:nvPr/>
        </p:nvSpPr>
        <p:spPr>
          <a:xfrm>
            <a:off x="6812280" y="6080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Jun 25</a:t>
            </a:r>
            <a:endParaRPr lang="en-US" sz="750" dirty="0"/>
          </a:p>
        </p:txBody>
      </p:sp>
      <p:sp>
        <p:nvSpPr>
          <p:cNvPr id="79" name="Shape 76"/>
          <p:cNvSpPr/>
          <p:nvPr/>
        </p:nvSpPr>
        <p:spPr>
          <a:xfrm>
            <a:off x="8412480" y="5468112"/>
            <a:ext cx="36576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80" name="Text 77"/>
          <p:cNvSpPr/>
          <p:nvPr/>
        </p:nvSpPr>
        <p:spPr>
          <a:xfrm>
            <a:off x="8138160" y="6080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Jul 25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9738360" y="5468112"/>
            <a:ext cx="36576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82" name="Text 79"/>
          <p:cNvSpPr/>
          <p:nvPr/>
        </p:nvSpPr>
        <p:spPr>
          <a:xfrm>
            <a:off x="9464040" y="6080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Aug 25</a:t>
            </a:r>
            <a:endParaRPr lang="en-US" sz="750" dirty="0"/>
          </a:p>
        </p:txBody>
      </p:sp>
      <p:sp>
        <p:nvSpPr>
          <p:cNvPr id="83" name="Shape 80"/>
          <p:cNvSpPr/>
          <p:nvPr/>
        </p:nvSpPr>
        <p:spPr>
          <a:xfrm>
            <a:off x="11064240" y="5468112"/>
            <a:ext cx="36576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84" name="Text 81"/>
          <p:cNvSpPr/>
          <p:nvPr/>
        </p:nvSpPr>
        <p:spPr>
          <a:xfrm>
            <a:off x="10789920" y="6080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A4A"/>
                </a:solidFill>
              </a:rPr>
              <a:t>Sep 25</a:t>
            </a:r>
            <a:endParaRPr lang="en-US" sz="750" dirty="0"/>
          </a:p>
        </p:txBody>
      </p:sp>
      <p:sp>
        <p:nvSpPr>
          <p:cNvPr id="85" name="Shape 82"/>
          <p:cNvSpPr/>
          <p:nvPr/>
        </p:nvSpPr>
        <p:spPr>
          <a:xfrm>
            <a:off x="274320" y="5623560"/>
            <a:ext cx="3977640" cy="274320"/>
          </a:xfrm>
          <a:prstGeom prst="rect">
            <a:avLst/>
          </a:prstGeom>
          <a:solidFill>
            <a:srgbClr val="E8312A">
              <a:alpha val="70000"/>
            </a:srgbClr>
          </a:solidFill>
          <a:ln/>
        </p:spPr>
      </p:sp>
      <p:sp>
        <p:nvSpPr>
          <p:cNvPr id="86" name="Shape 83"/>
          <p:cNvSpPr/>
          <p:nvPr/>
        </p:nvSpPr>
        <p:spPr>
          <a:xfrm>
            <a:off x="4251960" y="5623560"/>
            <a:ext cx="3977640" cy="274320"/>
          </a:xfrm>
          <a:prstGeom prst="rect">
            <a:avLst/>
          </a:prstGeom>
          <a:solidFill>
            <a:srgbClr val="0D0D0D">
              <a:alpha val="50000"/>
            </a:srgbClr>
          </a:solidFill>
          <a:ln/>
        </p:spPr>
      </p:sp>
      <p:sp>
        <p:nvSpPr>
          <p:cNvPr id="87" name="Shape 84"/>
          <p:cNvSpPr/>
          <p:nvPr/>
        </p:nvSpPr>
        <p:spPr>
          <a:xfrm>
            <a:off x="8229600" y="5623560"/>
            <a:ext cx="3657600" cy="274320"/>
          </a:xfrm>
          <a:prstGeom prst="rect">
            <a:avLst/>
          </a:prstGeom>
          <a:solidFill>
            <a:srgbClr val="4A4A4A">
              <a:alpha val="6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1887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Technical Architecture &amp; Stack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5303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Production-grade ML pipeline built on existing Delhivery infrastructure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914400"/>
            <a:ext cx="12161520" cy="640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Confidential | Delhivery Analytics | 2025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1051560"/>
            <a:ext cx="2834640" cy="4114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069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0D0D"/>
                </a:solidFill>
              </a:rPr>
              <a:t>DATA LAYER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150876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Shape 9"/>
          <p:cNvSpPr/>
          <p:nvPr/>
        </p:nvSpPr>
        <p:spPr>
          <a:xfrm>
            <a:off x="274320" y="1508760"/>
            <a:ext cx="64008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3" name="Text 10"/>
          <p:cNvSpPr/>
          <p:nvPr/>
        </p:nvSpPr>
        <p:spPr>
          <a:xfrm>
            <a:off x="429768" y="16459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PostgreSQL / Redshift — shipment history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37744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Shape 12"/>
          <p:cNvSpPr/>
          <p:nvPr/>
        </p:nvSpPr>
        <p:spPr>
          <a:xfrm>
            <a:off x="274320" y="2377440"/>
            <a:ext cx="64008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Text 13"/>
          <p:cNvSpPr/>
          <p:nvPr/>
        </p:nvSpPr>
        <p:spPr>
          <a:xfrm>
            <a:off x="429768" y="25146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Real-time GPS stream (Kafka)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324612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8" name="Shape 15"/>
          <p:cNvSpPr/>
          <p:nvPr/>
        </p:nvSpPr>
        <p:spPr>
          <a:xfrm>
            <a:off x="274320" y="3246120"/>
            <a:ext cx="64008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Text 16"/>
          <p:cNvSpPr/>
          <p:nvPr/>
        </p:nvSpPr>
        <p:spPr>
          <a:xfrm>
            <a:off x="429768" y="33832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Customer CRM (delivery attempt logs)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411480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8"/>
          <p:cNvSpPr/>
          <p:nvPr/>
        </p:nvSpPr>
        <p:spPr>
          <a:xfrm>
            <a:off x="274320" y="4114800"/>
            <a:ext cx="64008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2" name="Text 19"/>
          <p:cNvSpPr/>
          <p:nvPr/>
        </p:nvSpPr>
        <p:spPr>
          <a:xfrm>
            <a:off x="429768" y="42519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Weather API integration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127248" y="1188720"/>
            <a:ext cx="109728" cy="146304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24" name="Shape 21"/>
          <p:cNvSpPr/>
          <p:nvPr/>
        </p:nvSpPr>
        <p:spPr>
          <a:xfrm>
            <a:off x="3246120" y="1051560"/>
            <a:ext cx="2834640" cy="411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5" name="Text 22"/>
          <p:cNvSpPr/>
          <p:nvPr/>
        </p:nvSpPr>
        <p:spPr>
          <a:xfrm>
            <a:off x="3337560" y="1069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ML LAYER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46120" y="150876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7" name="Shape 24"/>
          <p:cNvSpPr/>
          <p:nvPr/>
        </p:nvSpPr>
        <p:spPr>
          <a:xfrm>
            <a:off x="3246120" y="1508760"/>
            <a:ext cx="64008" cy="77724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8" name="Text 25"/>
          <p:cNvSpPr/>
          <p:nvPr/>
        </p:nvSpPr>
        <p:spPr>
          <a:xfrm>
            <a:off x="3401568" y="16459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Route Batching: K-Means + DBSCAN clustering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46120" y="237744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7"/>
          <p:cNvSpPr/>
          <p:nvPr/>
        </p:nvSpPr>
        <p:spPr>
          <a:xfrm>
            <a:off x="3246120" y="2377440"/>
            <a:ext cx="64008" cy="77724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1" name="Text 28"/>
          <p:cNvSpPr/>
          <p:nvPr/>
        </p:nvSpPr>
        <p:spPr>
          <a:xfrm>
            <a:off x="3401568" y="25146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Demand Forecasting: XGBoost on zone × hour grid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246120" y="324612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3" name="Shape 30"/>
          <p:cNvSpPr/>
          <p:nvPr/>
        </p:nvSpPr>
        <p:spPr>
          <a:xfrm>
            <a:off x="3246120" y="3246120"/>
            <a:ext cx="64008" cy="77724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4" name="Text 31"/>
          <p:cNvSpPr/>
          <p:nvPr/>
        </p:nvSpPr>
        <p:spPr>
          <a:xfrm>
            <a:off x="3401568" y="33832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Slot Prediction: Logistic Regression (91% accuracy)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246120" y="411480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6" name="Shape 33"/>
          <p:cNvSpPr/>
          <p:nvPr/>
        </p:nvSpPr>
        <p:spPr>
          <a:xfrm>
            <a:off x="3246120" y="4114800"/>
            <a:ext cx="64008" cy="77724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7" name="Text 34"/>
          <p:cNvSpPr/>
          <p:nvPr/>
        </p:nvSpPr>
        <p:spPr>
          <a:xfrm>
            <a:off x="3401568" y="42519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Anomaly Detection: Isolation Forest on delays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099048" y="1188720"/>
            <a:ext cx="109728" cy="146304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39" name="Shape 36"/>
          <p:cNvSpPr/>
          <p:nvPr/>
        </p:nvSpPr>
        <p:spPr>
          <a:xfrm>
            <a:off x="6217920" y="1051560"/>
            <a:ext cx="2834640" cy="4114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0" name="Text 37"/>
          <p:cNvSpPr/>
          <p:nvPr/>
        </p:nvSpPr>
        <p:spPr>
          <a:xfrm>
            <a:off x="6309360" y="1069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0D0D"/>
                </a:solidFill>
              </a:rPr>
              <a:t>API LAYER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217920" y="150876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2" name="Shape 39"/>
          <p:cNvSpPr/>
          <p:nvPr/>
        </p:nvSpPr>
        <p:spPr>
          <a:xfrm>
            <a:off x="6217920" y="1508760"/>
            <a:ext cx="64008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3" name="Text 40"/>
          <p:cNvSpPr/>
          <p:nvPr/>
        </p:nvSpPr>
        <p:spPr>
          <a:xfrm>
            <a:off x="6373368" y="16459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FastAPI microservice for route optimization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217920" y="237744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5" name="Shape 42"/>
          <p:cNvSpPr/>
          <p:nvPr/>
        </p:nvSpPr>
        <p:spPr>
          <a:xfrm>
            <a:off x="6217920" y="2377440"/>
            <a:ext cx="64008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6" name="Text 43"/>
          <p:cNvSpPr/>
          <p:nvPr/>
        </p:nvSpPr>
        <p:spPr>
          <a:xfrm>
            <a:off x="6373368" y="25146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REST endpoints for driver app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217920" y="324612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8" name="Shape 45"/>
          <p:cNvSpPr/>
          <p:nvPr/>
        </p:nvSpPr>
        <p:spPr>
          <a:xfrm>
            <a:off x="6217920" y="3246120"/>
            <a:ext cx="64008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9" name="Text 46"/>
          <p:cNvSpPr/>
          <p:nvPr/>
        </p:nvSpPr>
        <p:spPr>
          <a:xfrm>
            <a:off x="6373368" y="33832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Webhook triggers on OTD breach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6217920" y="411480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1" name="Shape 48"/>
          <p:cNvSpPr/>
          <p:nvPr/>
        </p:nvSpPr>
        <p:spPr>
          <a:xfrm>
            <a:off x="6217920" y="4114800"/>
            <a:ext cx="64008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52" name="Text 49"/>
          <p:cNvSpPr/>
          <p:nvPr/>
        </p:nvSpPr>
        <p:spPr>
          <a:xfrm>
            <a:off x="6373368" y="42519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Real-time cost scoring per shipment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9070848" y="1188720"/>
            <a:ext cx="109728" cy="146304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54" name="Shape 51"/>
          <p:cNvSpPr/>
          <p:nvPr/>
        </p:nvSpPr>
        <p:spPr>
          <a:xfrm>
            <a:off x="9189720" y="1051560"/>
            <a:ext cx="2834640" cy="41148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55" name="Text 52"/>
          <p:cNvSpPr/>
          <p:nvPr/>
        </p:nvSpPr>
        <p:spPr>
          <a:xfrm>
            <a:off x="9281160" y="1069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DASHBOARD LAYER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9189720" y="150876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7" name="Shape 54"/>
          <p:cNvSpPr/>
          <p:nvPr/>
        </p:nvSpPr>
        <p:spPr>
          <a:xfrm>
            <a:off x="9189720" y="1508760"/>
            <a:ext cx="64008" cy="77724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58" name="Text 55"/>
          <p:cNvSpPr/>
          <p:nvPr/>
        </p:nvSpPr>
        <p:spPr>
          <a:xfrm>
            <a:off x="9345168" y="16459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Streamlit ops dashboard (zone KPIs, live routes)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9189720" y="237744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0" name="Shape 57"/>
          <p:cNvSpPr/>
          <p:nvPr/>
        </p:nvSpPr>
        <p:spPr>
          <a:xfrm>
            <a:off x="9189720" y="2377440"/>
            <a:ext cx="64008" cy="77724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61" name="Text 58"/>
          <p:cNvSpPr/>
          <p:nvPr/>
        </p:nvSpPr>
        <p:spPr>
          <a:xfrm>
            <a:off x="9345168" y="25146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Power BI exec dashboard (cost, OTD trends)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9189720" y="324612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3" name="Shape 60"/>
          <p:cNvSpPr/>
          <p:nvPr/>
        </p:nvSpPr>
        <p:spPr>
          <a:xfrm>
            <a:off x="9189720" y="3246120"/>
            <a:ext cx="64008" cy="77724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64" name="Text 61"/>
          <p:cNvSpPr/>
          <p:nvPr/>
        </p:nvSpPr>
        <p:spPr>
          <a:xfrm>
            <a:off x="9345168" y="33832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Driver app: optimized stop sequence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9189720" y="4114800"/>
            <a:ext cx="28346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6" name="Shape 63"/>
          <p:cNvSpPr/>
          <p:nvPr/>
        </p:nvSpPr>
        <p:spPr>
          <a:xfrm>
            <a:off x="9189720" y="4114800"/>
            <a:ext cx="64008" cy="77724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67" name="Text 64"/>
          <p:cNvSpPr/>
          <p:nvPr/>
        </p:nvSpPr>
        <p:spPr>
          <a:xfrm>
            <a:off x="9345168" y="42519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</a:rPr>
              <a:t>Alert system: SMS on delay &gt; 2h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274320" y="5138928"/>
            <a:ext cx="11612880" cy="1371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69" name="Text 66"/>
          <p:cNvSpPr/>
          <p:nvPr/>
        </p:nvSpPr>
        <p:spPr>
          <a:xfrm>
            <a:off x="457200" y="51937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📁  REPO STRUCTURE  |  github.com/delhivery/last-mile-optimization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457200" y="5513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data/delhivery_shipments.csv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4389120" y="5513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notebooks/01_EDA.ipynb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321040" y="5513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notebooks/02_Clustering.ipynb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457200" y="5824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scripts/generate_dataset.py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389120" y="5824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scripts/route_optimizer.py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8321040" y="5824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dashboard/streamlit_app.py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457200" y="61356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models/route_cluster_model.pkl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4389120" y="61356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README.md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8321040" y="61356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requirements.txt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831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3152"/>
            <a:ext cx="12801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</a:rPr>
              <a:t>CONCLUSION &amp; NEXT STEPS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Opportunity Is Clear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312A"/>
                </a:solidFill>
              </a:rPr>
              <a:t>Act Now — Every 10M Shipments Without Optimization Costs ~₹10Cr in Preventable Losses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3566160" cy="23774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312A"/>
                </a:solidFill>
              </a:rPr>
              <a:t>22%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Cost Reduction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2004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₹451 → ₹352/shipment through route batching + vehicle optimization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97680" y="1920240"/>
            <a:ext cx="3566160" cy="2377440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38%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29768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Delay Reduction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34840" y="32004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1.51h → 0.94h avg delay via peak scheduling + smart routing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38160" y="1920240"/>
            <a:ext cx="3566160" cy="23774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312A"/>
                </a:solidFill>
              </a:rPr>
              <a:t>₹99Cr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813816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Annual Savings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75320" y="32004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At 100M shipments/yr scale, fully attainable within 3 quarters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4434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312A"/>
                </a:solidFill>
              </a:rPr>
              <a:t>RECOMMENDED IMMEDIATE ACTIONS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1. Deploy peak-hour dispatch scheduler → Q1 2025 → Operations team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51389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BBBBB"/>
                </a:solidFill>
              </a:rPr>
              <a:t>2. Pilot route batching in Delhi NCR (50 routes) → Q1 2025 → Tech + Ops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552297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3. Build Streamlit ops dashboard → Q1 2025 → Analytics team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59070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BBBBB"/>
                </a:solidFill>
              </a:rPr>
              <a:t>4. Kick off slot-prediction model training → Q2 2025 → Data Science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E8312A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6583680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Delhivery Analytics Team  |  Last-Mile Optimization Project  |  FY 2024-25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</Words>
  <Application>Microsoft Office PowerPoint</Application>
  <PresentationFormat>Widescreen</PresentationFormat>
  <Paragraphs>319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Delhivery Last-Mile Delivery Optimization</dc:title>
  <dc:subject>PptxGenJS Presentation</dc:subject>
  <dc:creator>Analytics Team – Delhivery</dc:creator>
  <cp:lastModifiedBy>ASMIT CHOUDHARY</cp:lastModifiedBy>
  <cp:revision>2</cp:revision>
  <dcterms:created xsi:type="dcterms:W3CDTF">2026-03-29T19:25:03Z</dcterms:created>
  <dcterms:modified xsi:type="dcterms:W3CDTF">2026-03-29T20:34:18Z</dcterms:modified>
</cp:coreProperties>
</file>